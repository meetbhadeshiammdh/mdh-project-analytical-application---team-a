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Hourly Thefts</c:v>
                </c:pt>
              </c:strCache>
            </c:strRef>
          </c:tx>
          <c:spPr>
            <a:solidFill>
              <a:srgbClr val="58A6FF"/>
            </a:solidFill>
          </c:spP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45</c:v>
                </c:pt>
                <c:pt idx="1">
                  <c:v>30</c:v>
                </c:pt>
                <c:pt idx="2">
                  <c:v>20</c:v>
                </c:pt>
                <c:pt idx="3">
                  <c:v>15</c:v>
                </c:pt>
                <c:pt idx="4">
                  <c:v>12</c:v>
                </c:pt>
                <c:pt idx="5">
                  <c:v>18</c:v>
                </c:pt>
                <c:pt idx="6">
                  <c:v>35</c:v>
                </c:pt>
                <c:pt idx="7">
                  <c:v>80</c:v>
                </c:pt>
                <c:pt idx="8">
                  <c:v>130</c:v>
                </c:pt>
                <c:pt idx="9">
                  <c:v>160</c:v>
                </c:pt>
                <c:pt idx="10">
                  <c:v>170</c:v>
                </c:pt>
                <c:pt idx="11">
                  <c:v>165</c:v>
                </c:pt>
                <c:pt idx="12">
                  <c:v>150</c:v>
                </c:pt>
                <c:pt idx="13">
                  <c:v>148</c:v>
                </c:pt>
                <c:pt idx="14">
                  <c:v>145</c:v>
                </c:pt>
                <c:pt idx="15">
                  <c:v>155</c:v>
                </c:pt>
                <c:pt idx="16">
                  <c:v>170</c:v>
                </c:pt>
                <c:pt idx="17">
                  <c:v>190</c:v>
                </c:pt>
                <c:pt idx="18">
                  <c:v>200</c:v>
                </c:pt>
                <c:pt idx="19">
                  <c:v>185</c:v>
                </c:pt>
                <c:pt idx="20">
                  <c:v>150</c:v>
                </c:pt>
                <c:pt idx="21">
                  <c:v>120</c:v>
                </c:pt>
                <c:pt idx="22">
                  <c:v>90</c:v>
                </c:pt>
                <c:pt idx="23">
                  <c:v>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0BBC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0BBC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Weekly Thefts</c:v>
                </c:pt>
              </c:strCache>
            </c:strRef>
          </c:tx>
          <c:spPr>
            <a:solidFill>
              <a:srgbClr val="3FB950"/>
            </a:solidFill>
          </c:spPr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820</c:v>
                </c:pt>
                <c:pt idx="1">
                  <c:v>780</c:v>
                </c:pt>
                <c:pt idx="2">
                  <c:v>810</c:v>
                </c:pt>
                <c:pt idx="3">
                  <c:v>850</c:v>
                </c:pt>
                <c:pt idx="4">
                  <c:v>870</c:v>
                </c:pt>
                <c:pt idx="5">
                  <c:v>1050</c:v>
                </c:pt>
                <c:pt idx="6">
                  <c:v>920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0BBC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0BBC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Thefts</c:v>
                </c:pt>
              </c:strCache>
            </c:strRef>
          </c:tx>
          <c:spPr>
            <a:ln w="31750">
              <a:solidFill>
                <a:srgbClr val="F78716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600</c:v>
                </c:pt>
                <c:pt idx="1">
                  <c:v>520</c:v>
                </c:pt>
                <c:pt idx="2">
                  <c:v>680</c:v>
                </c:pt>
                <c:pt idx="3">
                  <c:v>790</c:v>
                </c:pt>
                <c:pt idx="4">
                  <c:v>910</c:v>
                </c:pt>
                <c:pt idx="5">
                  <c:v>1050</c:v>
                </c:pt>
                <c:pt idx="6">
                  <c:v>1100</c:v>
                </c:pt>
                <c:pt idx="7">
                  <c:v>1080</c:v>
                </c:pt>
                <c:pt idx="8">
                  <c:v>920</c:v>
                </c:pt>
                <c:pt idx="9">
                  <c:v>780</c:v>
                </c:pt>
                <c:pt idx="10">
                  <c:v>650</c:v>
                </c:pt>
                <c:pt idx="11">
                  <c:v>580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0BBC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0BBC8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Yearly Thefts</c:v>
                </c:pt>
              </c:strCache>
            </c:strRef>
          </c:tx>
          <c:spPr>
            <a:solidFill>
              <a:srgbClr val="BC8CFF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9200</c:v>
                </c:pt>
                <c:pt idx="1">
                  <c:v>7800</c:v>
                </c:pt>
                <c:pt idx="2">
                  <c:v>8500</c:v>
                </c:pt>
                <c:pt idx="3">
                  <c:v>9800</c:v>
                </c:pt>
                <c:pt idx="4">
                  <c:v>10200</c:v>
                </c:pt>
                <c:pt idx="5">
                  <c:v>9500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0BBC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0BBC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Financial Loss (€)</c:v>
                </c:pt>
              </c:strCache>
            </c:strRef>
          </c:tx>
          <c:spPr>
            <a:ln w="31750">
              <a:solidFill>
                <a:srgbClr val="FF7979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2022-01</c:v>
                </c:pt>
                <c:pt idx="1">
                  <c:v>2022-04</c:v>
                </c:pt>
                <c:pt idx="2">
                  <c:v>2022-07</c:v>
                </c:pt>
                <c:pt idx="3">
                  <c:v>2022-10</c:v>
                </c:pt>
                <c:pt idx="4">
                  <c:v>2023-01</c:v>
                </c:pt>
                <c:pt idx="5">
                  <c:v>2023-04</c:v>
                </c:pt>
                <c:pt idx="6">
                  <c:v>2023-07</c:v>
                </c:pt>
                <c:pt idx="7">
                  <c:v>2023-10</c:v>
                </c:pt>
                <c:pt idx="8">
                  <c:v>2024-01</c:v>
                </c:pt>
                <c:pt idx="9">
                  <c:v>2024-04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48000</c:v>
                </c:pt>
                <c:pt idx="1">
                  <c:v>62000</c:v>
                </c:pt>
                <c:pt idx="2">
                  <c:v>87000</c:v>
                </c:pt>
                <c:pt idx="3">
                  <c:v>71000</c:v>
                </c:pt>
                <c:pt idx="4">
                  <c:v>55000</c:v>
                </c:pt>
                <c:pt idx="5">
                  <c:v>78000</c:v>
                </c:pt>
                <c:pt idx="6">
                  <c:v>96000</c:v>
                </c:pt>
                <c:pt idx="7">
                  <c:v>84000</c:v>
                </c:pt>
                <c:pt idx="8">
                  <c:v>62000</c:v>
                </c:pt>
                <c:pt idx="9">
                  <c:v>73000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0BBC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0BBC8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1097280"/>
            <a:ext cx="3657600" cy="3657600"/>
          </a:xfrm>
          <a:prstGeom prst="ellipse">
            <a:avLst/>
          </a:prstGeom>
          <a:solidFill>
            <a:srgbClr val="1B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1828800"/>
            <a:ext cx="2286000" cy="2286000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1554480"/>
            <a:ext cx="502920" cy="502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0240" y="1554480"/>
            <a:ext cx="502920" cy="502920"/>
          </a:xfrm>
          <a:prstGeom prst="rect">
            <a:avLst/>
          </a:prstGeom>
          <a:solidFill>
            <a:srgbClr val="F78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Berlin Bike Theft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365760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8A6FF"/>
                </a:solidFill>
              </a:rPr>
              <a:t>IT -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BC8"/>
                </a:solidFill>
              </a:rPr>
              <a:t>A full-stack analytical application for exploring Berlin bike theft data
with interactive charts, geospatial heatmaps, and financial insights.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A8A"/>
                </a:solidFill>
              </a:rPr>
              <a:t>Medizinische Hochschule Hannover  • 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3716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56616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🎯 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904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Analyse Berlin police bike theft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Identify patterns (time, location, type)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Provide actionable financial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Interactive filtering by bike type, LOR,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05840"/>
            <a:ext cx="356616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📊  Dashboard 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4904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Main Dashboard – KPI summary 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7647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Statistics – 5 interactive charts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39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Geodata – District heatmap on live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3134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Filter panel with real-time updates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005840"/>
            <a:ext cx="356616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7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716"/>
                </a:solidFill>
              </a:rPr>
              <a:t>🗂  Data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4904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Source: Berlin Police open-data Excel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7647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Fields: date, hour, LOR district, bike type,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039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         financial damage, start/end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3134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Thousands of records spanning multiple years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A8A"/>
                </a:solidFill>
              </a:rPr>
              <a:t>Berlin Bike Theft Dashboard  •  IT-Project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371600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560320" cy="10972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Frontend
(React + Vite)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BC8"/>
                </a:solidFill>
              </a:rPr>
              <a:t>User Interface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463040"/>
            <a:ext cx="274320" cy="38100"/>
          </a:xfrm>
          <a:prstGeom prst="rect">
            <a:avLst/>
          </a:prstGeom>
          <a:solidFill>
            <a:srgbClr val="6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1005840"/>
            <a:ext cx="2560320" cy="1097280"/>
          </a:xfrm>
          <a:prstGeom prst="rect">
            <a:avLst/>
          </a:prstGeom>
          <a:solidFill>
            <a:srgbClr val="F78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005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REST API
(Flask / Python)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BC8"/>
                </a:solidFill>
              </a:rPr>
              <a:t>Communication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463040"/>
            <a:ext cx="274320" cy="38100"/>
          </a:xfrm>
          <a:prstGeom prst="rect">
            <a:avLst/>
          </a:prstGeom>
          <a:solidFill>
            <a:srgbClr val="6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560320" cy="10972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005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Backend
(Python)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BC8"/>
                </a:solidFill>
              </a:rPr>
              <a:t>Data Processing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1463040"/>
            <a:ext cx="274320" cy="38100"/>
          </a:xfrm>
          <a:prstGeom prst="rect">
            <a:avLst/>
          </a:prstGeom>
          <a:solidFill>
            <a:srgbClr val="6E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0" y="1005840"/>
            <a:ext cx="2560320" cy="109728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005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Data
(Excel .xlsx)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BC8"/>
                </a:solidFill>
              </a:rPr>
              <a:t>Storage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51760"/>
            <a:ext cx="539496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88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⚛  Frontend Technologies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1363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React 18 — component-based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4107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Vite — lightning-fast dev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6850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JavaScript (ES6+) / JSX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9593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Recharts — interactive chart library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2336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Axios — HTTP client for API calls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507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Leaflet.js — interactive map (GeodataDashboard)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7823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react-leaflet — React wrapper for Leaflet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0566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CSS Custom Properties (design tokens)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651760"/>
            <a:ext cx="576072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2788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🐍  Backend Technologies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1363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Python 3.x — primary backend language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4107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Flask — lightweight REST API 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685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Flask-CORS — cross-origin request handling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39593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Pandas — data loading &amp; transformation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4233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NumPy — numerical computations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507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OpenPyXL — read .xlsx Excel data files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A8A"/>
                </a:solidFill>
              </a:rPr>
              <a:t>Berlin Bike Theft Dashboard  •  IT-Project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Hourly Theft Trends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3716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91440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498079" y="914400"/>
            <a:ext cx="438912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39" y="1051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📌  Hourly Chart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39" y="13990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X-Axis: Hour of day (0 – 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39" y="16733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Y-Axis: Number of theft incidents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39" y="1947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Chart type: Bar Chart (Recharts BarChart)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39" y="2221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2496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🔍  Key Insights: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9" y="2770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Peak theft hours: 16:00 – 20:00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39" y="30449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Lowest risk: 02:00 – 05:00 (early morning)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39" y="33192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Gradual rise from 07:00 commuter peak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39" y="35935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39" y="38679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📦  Components Used: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39" y="4142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recharts: BarChart, Bar, XAxis, YAxis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39" y="44165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Tooltip, ResponsiveContainer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39" y="46908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Frontend: HourlyChart.jsx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4965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API endpoint: GET /api/stats/hourly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39" y="5239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Backend fn: get_hourly_stats(df)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5513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  data_processing.py  (pandas value_counts)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A8A"/>
                </a:solidFill>
              </a:rPr>
              <a:t>Berlin Bike Theft Dashboard  •  IT-Project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Weekly Theft Trends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37160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91440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498079" y="914400"/>
            <a:ext cx="438912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39" y="1051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📌  Weekly Chart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39" y="13990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X-Axis: Day of the week (Mon – Sun)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39" y="16733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Y-Axis: Number of theft incidents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39" y="1947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Chart type: Bar Chart (Recharts BarChart)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39" y="2221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2496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🔍  Key Insights: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9" y="2770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Weekends (Sat/Sun) show highest theft 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39" y="30449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Mid-week (Tue/Wed) shows lowest activity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39" y="33192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Friday spike: end-of-week commuter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39" y="35935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39" y="38679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📦  Components Used: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39" y="4142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recharts: BarChart, Bar, XAxis, YAxis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39" y="44165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Tooltip, ResponsiveContainer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39" y="46908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Frontend: WeeklyChart.jsx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4965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API endpoint: GET /api/stats/weekly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39" y="5239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Backend fn: get_weekly_stats(df)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5513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  data_processing.py  (pandas dt.day_name())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A8A"/>
                </a:solidFill>
              </a:rPr>
              <a:t>Berlin Bike Theft Dashboard  •  IT-Project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78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Monthly Theft Trends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371600" cy="38100"/>
          </a:xfrm>
          <a:prstGeom prst="rect">
            <a:avLst/>
          </a:prstGeom>
          <a:solidFill>
            <a:srgbClr val="F78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91440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498079" y="914400"/>
            <a:ext cx="438912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7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39" y="1051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716"/>
                </a:solidFill>
              </a:rPr>
              <a:t>📌  Monthly Chart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39" y="13990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X-Axis: Month name (January – December)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39" y="16733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Y-Axis: Number of theft incidents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39" y="1947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Chart type: Line Chart (Recharts LineChart)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39" y="2221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2496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🔍  Key Insights: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9" y="2770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Summer months (Jun – Aug) peak due 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39" y="30449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  more outdoor activity &amp; parked bikes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39" y="33192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Winter months (Nov – Feb) show decline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39" y="35935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Clear seasonal sinusoidal pattern visible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39" y="38679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39" y="4142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📦  Components Used: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39" y="44165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recharts: LineChart, Line, XAxis, YAxis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39" y="46908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Tooltip, ResponsiveContainer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4965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Frontend: MonthlyChart.jsx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39" y="5239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API endpoint: GET /api/stats/monthly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5513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Backend fn: get_monthly_stats(df)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39" y="57881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  (pandas dt.month_name()  + reindex)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A8A"/>
                </a:solidFill>
              </a:rPr>
              <a:t>Berlin Bike Theft Dashboard  •  IT-Project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Yearly Theft Trends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371600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91440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498079" y="914400"/>
            <a:ext cx="438912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39" y="1051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C8CFF"/>
                </a:solidFill>
              </a:rPr>
              <a:t>📌  Yearly Chart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39" y="13990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X-Axis: Year (e.g. 2019, 2020, 2021 …)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39" y="16733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Y-Axis: Number of theft incidents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39" y="1947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Chart type: Bar Chart with gradient fill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39" y="2221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           (Recharts BarChart + linearGradient)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2496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9" y="2770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🔍  Key Insights: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39" y="30449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Slight dip in 2020 (COVID lockdown effect)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39" y="33192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Rise in 2022–2023 post-lockdown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39" y="35935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Long-term trend analysis for city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39" y="38679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39" y="4142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📦  Components Used: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39" y="44165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recharts: BarChart, Bar, XAxis, YAxis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39" y="46908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CartesianGrid, Tooltip, ResponsiveContainer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4965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SVG linearGradient inside &lt;defs&gt; tag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39" y="5239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Frontend: YearlyChart.jsx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5513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API endpoint: GET /api/stats/yearly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39" y="57881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Backend fn: get_yearly_stats(df)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39" y="60624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  (pandas dt.year + value_counts)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A8A"/>
                </a:solidFill>
              </a:rPr>
              <a:t>Berlin Bike Theft Dashboard  •  IT-Project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Financial Impact Trend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371600" cy="38100"/>
          </a:xfrm>
          <a:prstGeom prst="rect">
            <a:avLst/>
          </a:prstGeom>
          <a:solidFill>
            <a:srgbClr val="FF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91440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498079" y="914400"/>
            <a:ext cx="438912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39" y="1051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979"/>
                </a:solidFill>
              </a:rPr>
              <a:t>📌  Financial Chart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39" y="13990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X-Axis: Year-Month label (e.g. 2023-06)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39" y="16733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Y-Axis: Total financial damage in Euros (€)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39" y="1947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Chart type: Line Chart (Recharts LineChart)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39" y="2221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2496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🔍  Key Insights: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9" y="2770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Tracks total € monetary loss over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39" y="30449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High-damage periods correlate with summer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39" y="33192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Tooltip formats values as €XX,XXX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39" y="35935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Useful for insurance &amp; policy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39" y="38679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39" y="4142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📦  Components Used: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39" y="44165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recharts: LineChart, Line, XAxis, YAxis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39" y="46908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Tooltip, ResponsiveContainer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4965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Custom formatter: €{value.toLocaleString()}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39" y="5239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Frontend: FinancialChart.jsx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5513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API endpoint: GET /api/stats/financial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39" y="57881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Backend fn: get_financial_stats(df)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39" y="60624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  (pandas dt.to_period('M') + groupby sum)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A8A"/>
                </a:solidFill>
              </a:rPr>
              <a:t>Berlin Bike Theft Dashboard  •  IT-Project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Python Libraries &amp; Geodata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37160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737360" cy="5943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005840"/>
            <a:ext cx="55778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0820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REST API server framework; defines all /api/stats/* endpoints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55648"/>
            <a:ext cx="1737360" cy="5943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5564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Flask-CORS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755648"/>
            <a:ext cx="55778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831848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Enables cross-origin requests between React (port 5173) &amp; API (5000)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05456"/>
            <a:ext cx="1737360" cy="594360"/>
          </a:xfrm>
          <a:prstGeom prst="rect">
            <a:avLst/>
          </a:prstGeom>
          <a:solidFill>
            <a:srgbClr val="F78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05456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Pandas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2505456"/>
            <a:ext cx="55778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F787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2581656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Core data wrangling: load, clean, aggregate theft records (all charts)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55264"/>
            <a:ext cx="1737360" cy="59436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55264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NumPy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3255264"/>
            <a:ext cx="55778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3331464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Numerical support for float/int conversions used in data cleaning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05072"/>
            <a:ext cx="1737360" cy="594360"/>
          </a:xfrm>
          <a:prstGeom prst="rect">
            <a:avLst/>
          </a:prstGeom>
          <a:solidFill>
            <a:srgbClr val="FF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0507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OpenPyXL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4005072"/>
            <a:ext cx="55778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FF7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408127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Reads the bike_thefts_berlin.xlsx Excel file into a DataFrame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1005840"/>
            <a:ext cx="3931920" cy="3749039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🗺  Geodata Heatmap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1490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Component: GeodataDashboard.jsx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7647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Library: Leaflet.js + react-leaflet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039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Visualises theft density as a colour heatmap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313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Data source: GeoJSON Berlin LOR boundaries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2587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API endpoint: GET /api/stats/geospatial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862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Backend: groups by LOR → theft_count + total_damage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1363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BC8"/>
                </a:solidFill>
              </a:rPr>
              <a:t>▸  Colors districts from light → dark based on theft count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A8A"/>
                </a:solidFill>
              </a:rPr>
              <a:t>Berlin Bike Theft Dashboard  •  IT-Project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029200"/>
            <a:ext cx="2926080" cy="2926080"/>
          </a:xfrm>
          <a:prstGeom prst="ellipse">
            <a:avLst/>
          </a:prstGeom>
          <a:solidFill>
            <a:srgbClr val="1B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5486400"/>
            <a:ext cx="1828800" cy="1828800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320040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8A6FF"/>
                </a:solidFill>
              </a:rPr>
              <a:t>Berlin Bike Theft Dashboard  —  IT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⚛ 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1089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8"/>
                </a:solidFill>
              </a:rPr>
              <a:t>React 18, Vite, Recharts, Axios, Leaflet.js, CSS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935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🐍 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59359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8"/>
                </a:solidFill>
              </a:rPr>
              <a:t>Python, Flask, Flask-CORS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7822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📊  Libraries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07822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8"/>
                </a:solidFill>
              </a:rPr>
              <a:t>Pandas · NumPy · OpenPyXL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6285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📈  Charts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562856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8"/>
                </a:solidFill>
              </a:rPr>
              <a:t>Hourly (Bar) · Weekly (Bar) · Monthly (Line) · Yearly (Bar) · Financial (Line)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474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🗺  Geodata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50474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8"/>
                </a:solidFill>
              </a:rPr>
              <a:t>Interactive Berlin district heatmap with theft density &amp; damage totals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32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🗂 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5532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8"/>
                </a:solidFill>
              </a:rPr>
              <a:t>Berlin Police open-data Excel (.xlsx) — real incident records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A8A"/>
                </a:solidFill>
              </a:rPr>
              <a:t>Medizinische Hochschule Hannover  •  2024/2025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